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章节标题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**第2章：Pandas基础与数据结构**</a:t>
            </a:r>
          </a:p>
          <a:p>
            <a:pPr>
              <a:defRPr sz="1800"/>
            </a:pPr>
            <a:r>
              <a:t>Python数据分析的核心工具</a:t>
            </a:r>
          </a:p>
          <a:p>
            <a:pPr>
              <a:defRPr sz="1800"/>
            </a:pPr>
            <a:r>
              <a:t>2026年最新特性与最佳实践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掌握Pandas核心数据结构（Series, DataFrame）</a:t>
            </a:r>
          </a:p>
          <a:p>
            <a:pPr>
              <a:defRPr sz="1800"/>
            </a:pPr>
            <a:r>
              <a:t>理解Pandas 3.0的新特性与性能优势</a:t>
            </a:r>
          </a:p>
          <a:p>
            <a:pPr>
              <a:defRPr sz="1800"/>
            </a:pPr>
            <a:r>
              <a:t>学会高效的数据读取与写入技巧</a:t>
            </a:r>
          </a:p>
          <a:p>
            <a:pPr>
              <a:defRPr sz="1800"/>
            </a:pPr>
            <a:r>
              <a:t>掌握基本数据操作与索引方法</a:t>
            </a:r>
          </a:p>
          <a:p>
            <a:pPr>
              <a:defRPr sz="1800"/>
            </a:pPr>
            <a:r>
              <a:t>了解Polars作为高性能替代方案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Pandas生态系统概览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**历史发展**：从2008年至今的演进</a:t>
            </a:r>
          </a:p>
          <a:p>
            <a:pPr>
              <a:defRPr sz="1800"/>
            </a:pPr>
            <a:r>
              <a:t>**核心定位**：数据分析的瑞士军刀</a:t>
            </a:r>
          </a:p>
          <a:p>
            <a:pPr>
              <a:defRPr sz="1800"/>
            </a:pPr>
            <a:r>
              <a:t>**2026年地位**：仍然是数据科学的基石工具</a:t>
            </a:r>
          </a:p>
          <a:p>
            <a:pPr>
              <a:defRPr sz="1800"/>
            </a:pPr>
            <a:r>
              <a:t>**与其他工具的关系**：</a:t>
            </a:r>
          </a:p>
          <a:p>
            <a:pPr>
              <a:defRPr sz="1800"/>
            </a:pPr>
            <a:r>
              <a:t>NumPy：底层计算引擎</a:t>
            </a:r>
          </a:p>
          <a:p>
            <a:pPr>
              <a:defRPr sz="1800"/>
            </a:pPr>
            <a:r>
              <a:t>Matplotlib/Seaborn：可视化后端</a:t>
            </a:r>
          </a:p>
          <a:p>
            <a:pPr>
              <a:defRPr sz="1800"/>
            </a:pPr>
            <a:r>
              <a:t>Scikit-learn：机器学习接口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Series对象详解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**定义**：一维带标签的数组</a:t>
            </a:r>
          </a:p>
          <a:p>
            <a:pPr>
              <a:defRPr sz="1800"/>
            </a:pPr>
            <a:r>
              <a:t>**特点**：</a:t>
            </a:r>
          </a:p>
          <a:p>
            <a:pPr>
              <a:defRPr sz="1800"/>
            </a:pPr>
            <a:r>
              <a:t>自动对齐索引</a:t>
            </a:r>
          </a:p>
          <a:p>
            <a:pPr>
              <a:defRPr sz="1800"/>
            </a:pPr>
            <a:r>
              <a:t>支持多种数据类型</a:t>
            </a:r>
          </a:p>
          <a:p>
            <a:pPr>
              <a:defRPr sz="1800"/>
            </a:pPr>
            <a:r>
              <a:t>内置缺失值处理</a:t>
            </a:r>
          </a:p>
          <a:p>
            <a:pPr>
              <a:defRPr sz="1800"/>
            </a:pPr>
            <a:r>
              <a:t>**创建方式**：</a:t>
            </a:r>
          </a:p>
          <a:p>
            <a:pPr>
              <a:defRPr sz="1400">
                <a:latin typeface="Courier New"/>
              </a:defRPr>
            </a:pPr>
            <a:r>
              <a:t>pd.Series([1, 3, 5, np.nan, 6, 8])</a:t>
            </a:r>
          </a:p>
          <a:p>
            <a:pPr>
              <a:defRPr sz="1400">
                <a:latin typeface="Courier New"/>
              </a:defRPr>
            </a:pPr>
            <a:r>
              <a:t>pd.Series([1, 2, 3, 4], index=['a', 'b', 'c', 'd'])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DataFrame对象详解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**定义**：二维表格型数据结构</a:t>
            </a:r>
          </a:p>
          <a:p>
            <a:pPr>
              <a:defRPr sz="1800"/>
            </a:pPr>
            <a:r>
              <a:t>**核心特性**：</a:t>
            </a:r>
          </a:p>
          <a:p>
            <a:pPr>
              <a:defRPr sz="1800"/>
            </a:pPr>
            <a:r>
              <a:t>每列可不同数据类型</a:t>
            </a:r>
          </a:p>
          <a:p>
            <a:pPr>
              <a:defRPr sz="1800"/>
            </a:pPr>
            <a:r>
              <a:t>行列都有标签</a:t>
            </a:r>
          </a:p>
          <a:p>
            <a:pPr>
              <a:defRPr sz="1800"/>
            </a:pPr>
            <a:r>
              <a:t>强大的索引和选择功能</a:t>
            </a:r>
          </a:p>
          <a:p>
            <a:pPr>
              <a:defRPr sz="1800"/>
            </a:pPr>
            <a:r>
              <a:t>**创建示例**：</a:t>
            </a:r>
          </a:p>
          <a:p>
            <a:pPr>
              <a:defRPr sz="1400">
                <a:latin typeface="Courier New"/>
              </a:defRPr>
            </a:pPr>
            <a:r>
              <a:t>df = pd.DataFrame({</a:t>
            </a:r>
          </a:p>
          <a:p>
            <a:pPr>
              <a:defRPr sz="1400">
                <a:latin typeface="Courier New"/>
              </a:defRPr>
            </a:pPr>
            <a:r>
              <a:t>'A': 1.,</a:t>
            </a:r>
          </a:p>
          <a:p>
            <a:pPr>
              <a:defRPr sz="1400">
                <a:latin typeface="Courier New"/>
              </a:defRPr>
            </a:pPr>
            <a:r>
              <a:t>'B': pd.Timestamp('2026-01-01'),</a:t>
            </a:r>
          </a:p>
          <a:p>
            <a:pPr>
              <a:defRPr sz="1400">
                <a:latin typeface="Courier New"/>
              </a:defRPr>
            </a:pPr>
            <a:r>
              <a:t>'C': pd.Series(1, index=list(range(4)), dtype='float32'),</a:t>
            </a:r>
          </a:p>
          <a:p>
            <a:pPr>
              <a:defRPr sz="1400">
                <a:latin typeface="Courier New"/>
              </a:defRPr>
            </a:pPr>
            <a:r>
              <a:t>'E': pd.Categorical(["test", "train", "test", "train"])</a:t>
            </a:r>
          </a:p>
          <a:p>
            <a:pPr>
              <a:defRPr sz="1400">
                <a:latin typeface="Courier New"/>
              </a:defRPr>
            </a:pPr>
            <a:r>
              <a:t>})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Pandas 3.0革命性更新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**Arrow集成**（核心亮点）：</a:t>
            </a:r>
          </a:p>
          <a:p>
            <a:pPr>
              <a:defRPr sz="1800"/>
            </a:pPr>
            <a:r>
              <a:t>默认使用Apache Arrow内存格式</a:t>
            </a:r>
          </a:p>
          <a:p>
            <a:pPr>
              <a:defRPr sz="1800"/>
            </a:pPr>
            <a:r>
              <a:t>性能提升2-5倍</a:t>
            </a:r>
          </a:p>
          <a:p>
            <a:pPr>
              <a:defRPr sz="1800"/>
            </a:pPr>
            <a:r>
              <a:t>内存效率大幅提升</a:t>
            </a:r>
          </a:p>
          <a:p>
            <a:pPr>
              <a:defRPr sz="1800"/>
            </a:pPr>
            <a:r>
              <a:t>**Lazy Evaluation**：</a:t>
            </a:r>
          </a:p>
          <a:p>
            <a:pPr>
              <a:defRPr sz="1800"/>
            </a:pPr>
            <a:r>
              <a:t>延迟计算优化</a:t>
            </a:r>
          </a:p>
          <a:p>
            <a:pPr>
              <a:defRPr sz="1800"/>
            </a:pPr>
            <a:r>
              <a:t>减少中间结果内存占用</a:t>
            </a:r>
          </a:p>
          <a:p>
            <a:pPr>
              <a:defRPr sz="1800"/>
            </a:pPr>
            <a:r>
              <a:t>**并行处理**：</a:t>
            </a:r>
          </a:p>
          <a:p>
            <a:pPr>
              <a:defRPr sz="1800"/>
            </a:pPr>
            <a:r>
              <a:t>内置多线程支持</a:t>
            </a:r>
          </a:p>
          <a:p>
            <a:pPr>
              <a:defRPr sz="1800"/>
            </a:pPr>
            <a:r>
              <a:t>自动利用多核CPU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Arrow集成实战演示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**代码对比**：</a:t>
            </a:r>
          </a:p>
          <a:p>
            <a:pPr>
              <a:defRPr sz="1400">
                <a:latin typeface="Courier New"/>
              </a:defRPr>
            </a:pPr>
            <a:r>
              <a:t># 传统Pandas</a:t>
            </a:r>
          </a:p>
          <a:p>
            <a:pPr>
              <a:defRPr sz="1400">
                <a:latin typeface="Courier New"/>
              </a:defRPr>
            </a:pPr>
            <a:r>
              <a:t>df_traditional = pd.DataFrame({'strings': ['hello', 'world']})</a:t>
            </a:r>
          </a:p>
          <a:p>
            <a:pPr>
              <a:defRPr sz="1400">
                <a:latin typeface="Courier New"/>
              </a:defRPr>
            </a:pPr>
            <a:r>
              <a:t># Pandas 3.0 + Arrow</a:t>
            </a:r>
          </a:p>
          <a:p>
            <a:pPr>
              <a:defRPr sz="1400">
                <a:latin typeface="Courier New"/>
              </a:defRPr>
            </a:pPr>
            <a:r>
              <a:t>df_arrow = pd.DataFrame({</a:t>
            </a:r>
          </a:p>
          <a:p>
            <a:pPr>
              <a:defRPr sz="1400">
                <a:latin typeface="Courier New"/>
              </a:defRPr>
            </a:pPr>
            <a:r>
              <a:t>'strings': pd.array(['hello', 'world'], dtype="string[pyarrow]"),</a:t>
            </a:r>
          </a:p>
          <a:p>
            <a:pPr>
              <a:defRPr sz="1400">
                <a:latin typeface="Courier New"/>
              </a:defRPr>
            </a:pPr>
            <a:r>
              <a:t>'ints': pd.array([1, 2], dtype="int64[pyarrow]")</a:t>
            </a:r>
          </a:p>
          <a:p>
            <a:pPr>
              <a:defRPr sz="1400">
                <a:latin typeface="Courier New"/>
              </a:defRPr>
            </a:pPr>
            <a:r>
              <a:t>})</a:t>
            </a:r>
          </a:p>
          <a:p>
            <a:pPr>
              <a:defRPr sz="1800"/>
            </a:pPr>
            <a:r>
              <a:t>**性能指标**：</a:t>
            </a:r>
          </a:p>
          <a:p>
            <a:pPr>
              <a:defRPr sz="1800"/>
            </a:pPr>
            <a:r>
              <a:t>内存使用：减少40-60%</a:t>
            </a:r>
          </a:p>
          <a:p>
            <a:pPr>
              <a:defRPr sz="1800"/>
            </a:pPr>
            <a:r>
              <a:t>计算速度：提升200-500%</a:t>
            </a:r>
          </a:p>
          <a:p>
            <a:pPr>
              <a:defRPr sz="1800"/>
            </a:pPr>
            <a:r>
              <a:t>I/O性能：Parquet读写加速300%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高效数据I/O策略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**支持的格式**：</a:t>
            </a:r>
          </a:p>
          <a:p>
            <a:pPr>
              <a:defRPr sz="1800"/>
            </a:pPr>
            <a:r>
              <a:t>CSV/TSV、Excel、JSON、Parquet、HDF5</a:t>
            </a:r>
          </a:p>
          <a:p>
            <a:pPr>
              <a:defRPr sz="1800"/>
            </a:pPr>
            <a:r>
              <a:t>**高性能读取技巧**：</a:t>
            </a:r>
          </a:p>
          <a:p>
            <a:pPr>
              <a:defRPr sz="1800"/>
            </a:pPr>
            <a:r>
              <a:t>分块读取大文件（chunksize）</a:t>
            </a:r>
          </a:p>
          <a:p>
            <a:pPr>
              <a:defRPr sz="1800"/>
            </a:pPr>
            <a:r>
              <a:t>指定数据类型优化内存（dtype）</a:t>
            </a:r>
          </a:p>
          <a:p>
            <a:pPr>
              <a:defRPr sz="1800"/>
            </a:pPr>
            <a:r>
              <a:t>使用Arrow格式存储（Parquet）</a:t>
            </a:r>
          </a:p>
          <a:p>
            <a:pPr>
              <a:defRPr sz="1800"/>
            </a:pPr>
            <a:r>
              <a:t>**最佳实践**：</a:t>
            </a:r>
          </a:p>
          <a:p>
            <a:pPr>
              <a:defRPr sz="1800"/>
            </a:pPr>
            <a:r>
              <a:t>生产环境优先使用Parquet</a:t>
            </a:r>
          </a:p>
          <a:p>
            <a:pPr>
              <a:defRPr sz="1800"/>
            </a:pPr>
            <a:r>
              <a:t>开发环境使用CSV便于调试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数据选择与索引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**列选择**：</a:t>
            </a:r>
          </a:p>
          <a:p>
            <a:pPr>
              <a:defRPr sz="1800"/>
            </a:pPr>
            <a:r>
              <a:t>`df['column']` vs `df[['col1', 'col2']]`</a:t>
            </a:r>
          </a:p>
          <a:p>
            <a:pPr>
              <a:defRPr sz="1800"/>
            </a:pPr>
            <a:r>
              <a:t>**行选择**：</a:t>
            </a:r>
          </a:p>
          <a:p>
            <a:pPr>
              <a:defRPr sz="1800"/>
            </a:pPr>
            <a:r>
              <a:t>`.loc[]`：标签索引</a:t>
            </a:r>
          </a:p>
          <a:p>
            <a:pPr>
              <a:defRPr sz="1800"/>
            </a:pPr>
            <a:r>
              <a:t>`.iloc[]`：位置索引</a:t>
            </a:r>
          </a:p>
          <a:p>
            <a:pPr>
              <a:defRPr sz="1800"/>
            </a:pPr>
            <a:r>
              <a:t>**条件选择**：</a:t>
            </a:r>
          </a:p>
          <a:p>
            <a:pPr>
              <a:defRPr sz="1800"/>
            </a:pPr>
            <a:r>
              <a:t>布尔索引：`df[df['value'] &gt; 100]`</a:t>
            </a:r>
          </a:p>
          <a:p>
            <a:pPr>
              <a:defRPr sz="1800"/>
            </a:pPr>
            <a:r>
              <a:t>查询方法：`df.query('value &gt; 100 and category == "A"')`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基本数据操作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**添加/删除列**：</a:t>
            </a:r>
          </a:p>
          <a:p>
            <a:pPr>
              <a:defRPr sz="1800"/>
            </a:pPr>
            <a:r>
              <a:t>`df['new_col'] = ...`</a:t>
            </a:r>
          </a:p>
          <a:p>
            <a:pPr>
              <a:defRPr sz="1800"/>
            </a:pPr>
            <a:r>
              <a:t>`df.drop('col', axis=1)`</a:t>
            </a:r>
          </a:p>
          <a:p>
            <a:pPr>
              <a:defRPr sz="1800"/>
            </a:pPr>
            <a:r>
              <a:t>**重命名与排序**：</a:t>
            </a:r>
          </a:p>
          <a:p>
            <a:pPr>
              <a:defRPr sz="1800"/>
            </a:pPr>
            <a:r>
              <a:t>`df.rename(columns={'old': 'new'})`</a:t>
            </a:r>
          </a:p>
          <a:p>
            <a:pPr>
              <a:defRPr sz="1800"/>
            </a:pPr>
            <a:r>
              <a:t>`df.sort_values('col', ascending=False)`</a:t>
            </a:r>
          </a:p>
          <a:p>
            <a:pPr>
              <a:defRPr sz="1800"/>
            </a:pPr>
            <a:r>
              <a:t>**聚合操作**：</a:t>
            </a:r>
          </a:p>
          <a:p>
            <a:pPr>
              <a:defRPr sz="1800"/>
            </a:pPr>
            <a:r>
              <a:t>`groupby()`、`agg()`、`transform()`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Polars vs Pandas对比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**Polars优势**：</a:t>
            </a:r>
          </a:p>
          <a:p>
            <a:pPr>
              <a:defRPr sz="1800"/>
            </a:pPr>
            <a:r>
              <a:t>Rust底层引擎，极致性能</a:t>
            </a:r>
          </a:p>
          <a:p>
            <a:pPr>
              <a:defRPr sz="1800"/>
            </a:pPr>
            <a:r>
              <a:t>Lazy API查询优化</a:t>
            </a:r>
          </a:p>
          <a:p>
            <a:pPr>
              <a:defRPr sz="1800"/>
            </a:pPr>
            <a:r>
              <a:t>多线程原生支持</a:t>
            </a:r>
          </a:p>
          <a:p>
            <a:pPr>
              <a:defRPr sz="1800"/>
            </a:pPr>
            <a:r>
              <a:t>**Pandas优势**：</a:t>
            </a:r>
          </a:p>
          <a:p>
            <a:pPr>
              <a:defRPr sz="1800"/>
            </a:pPr>
            <a:r>
              <a:t>生态系统丰富</a:t>
            </a:r>
          </a:p>
          <a:p>
            <a:pPr>
              <a:defRPr sz="1800"/>
            </a:pPr>
            <a:r>
              <a:t>学习曲线平缓</a:t>
            </a:r>
          </a:p>
          <a:p>
            <a:pPr>
              <a:defRPr sz="1800"/>
            </a:pPr>
            <a:r>
              <a:t>社区支持强大</a:t>
            </a:r>
          </a:p>
          <a:p>
            <a:pPr>
              <a:defRPr sz="1800"/>
            </a:pPr>
            <a:r>
              <a:t>**选择建议**：</a:t>
            </a:r>
          </a:p>
          <a:p>
            <a:pPr>
              <a:defRPr sz="1800"/>
            </a:pPr>
            <a:r>
              <a:t>&lt;1GB数据：Pandas 3.0</a:t>
            </a:r>
          </a:p>
          <a:p>
            <a:pPr>
              <a:defRPr sz="1800"/>
            </a:pPr>
            <a:r>
              <a:t>&gt;1GB数据：考虑Polars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Polars实战演示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**API对比**：</a:t>
            </a:r>
          </a:p>
          <a:p>
            <a:pPr>
              <a:defRPr sz="1400">
                <a:latin typeface="Courier New"/>
              </a:defRPr>
            </a:pPr>
            <a:r>
              <a:t># Pandas</a:t>
            </a:r>
          </a:p>
          <a:p>
            <a:pPr>
              <a:defRPr sz="1400">
                <a:latin typeface="Courier New"/>
              </a:defRPr>
            </a:pPr>
            <a:r>
              <a:t>result_pd = df.groupby('category').sum()</a:t>
            </a:r>
          </a:p>
          <a:p>
            <a:pPr>
              <a:defRPr sz="1400">
                <a:latin typeface="Courier New"/>
              </a:defRPr>
            </a:pPr>
            <a:r>
              <a:t># Polars</a:t>
            </a:r>
          </a:p>
          <a:p>
            <a:pPr>
              <a:defRPr sz="1400">
                <a:latin typeface="Courier New"/>
              </a:defRPr>
            </a:pPr>
            <a:r>
              <a:t>result_pl = (df_pl</a:t>
            </a:r>
          </a:p>
          <a:p>
            <a:pPr>
              <a:defRPr sz="1400">
                <a:latin typeface="Courier New"/>
              </a:defRPr>
            </a:pPr>
            <a:r>
              <a:t>.filter(pl.col('A') &gt; 1)</a:t>
            </a:r>
          </a:p>
          <a:p>
            <a:pPr>
              <a:defRPr sz="1400">
                <a:latin typeface="Courier New"/>
              </a:defRPr>
            </a:pPr>
            <a:r>
              <a:t>.select(['A', 'B'])</a:t>
            </a:r>
          </a:p>
          <a:p>
            <a:pPr>
              <a:defRPr sz="1400">
                <a:latin typeface="Courier New"/>
              </a:defRPr>
            </a:pPr>
            <a:r>
              <a:t>.sort('A'))</a:t>
            </a:r>
          </a:p>
          <a:p>
            <a:pPr>
              <a:defRPr sz="1800"/>
            </a:pPr>
            <a:r>
              <a:t>**性能测试场景**：</a:t>
            </a:r>
          </a:p>
          <a:p>
            <a:pPr>
              <a:defRPr sz="1800"/>
            </a:pPr>
            <a:r>
              <a:t>10GB数据集聚合操作</a:t>
            </a:r>
          </a:p>
          <a:p>
            <a:pPr>
              <a:defRPr sz="1800"/>
            </a:pPr>
            <a:r>
              <a:t>内存使用对比</a:t>
            </a:r>
          </a:p>
          <a:p>
            <a:pPr>
              <a:defRPr sz="1800"/>
            </a:pPr>
            <a:r>
              <a:t>执行时间对比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实践练习指导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**练习2.1**：学生信息DataFrame创建</a:t>
            </a:r>
          </a:p>
          <a:p>
            <a:pPr>
              <a:defRPr sz="1800"/>
            </a:pPr>
            <a:r>
              <a:t>包含学号、姓名、年龄、专业、GPA</a:t>
            </a:r>
          </a:p>
          <a:p>
            <a:pPr>
              <a:defRPr sz="1800"/>
            </a:pPr>
            <a:r>
              <a:t>实现基本CRUD操作</a:t>
            </a:r>
          </a:p>
          <a:p>
            <a:pPr>
              <a:defRPr sz="1800"/>
            </a:pPr>
            <a:r>
              <a:t>**练习2.2**：Pandas vs Polars性能对比</a:t>
            </a:r>
          </a:p>
          <a:p>
            <a:pPr>
              <a:defRPr sz="1800"/>
            </a:pPr>
            <a:r>
              <a:t>相同数据集，相同操作</a:t>
            </a:r>
          </a:p>
          <a:p>
            <a:pPr>
              <a:defRPr sz="1800"/>
            </a:pPr>
            <a:r>
              <a:t>记录时间和内存使用</a:t>
            </a:r>
          </a:p>
          <a:p>
            <a:pPr>
              <a:defRPr sz="1800"/>
            </a:pPr>
            <a:r>
              <a:t>**练习2.3**：大文件I/O优化</a:t>
            </a:r>
          </a:p>
          <a:p>
            <a:pPr>
              <a:defRPr sz="1800"/>
            </a:pPr>
            <a:r>
              <a:t>Kaggle数据集处理</a:t>
            </a:r>
          </a:p>
          <a:p>
            <a:pPr>
              <a:defRPr sz="1800"/>
            </a:pPr>
            <a:r>
              <a:t>不同策略效果对比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常见陷阱与解决方案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**内存溢出**：</a:t>
            </a:r>
          </a:p>
          <a:p>
            <a:pPr>
              <a:defRPr sz="1800"/>
            </a:pPr>
            <a:r>
              <a:t>解决方案：分块处理、指定dtype</a:t>
            </a:r>
          </a:p>
          <a:p>
            <a:pPr>
              <a:defRPr sz="1800"/>
            </a:pPr>
            <a:r>
              <a:t>**数据类型错误**：</a:t>
            </a:r>
          </a:p>
          <a:p>
            <a:pPr>
              <a:defRPr sz="1800"/>
            </a:pPr>
            <a:r>
              <a:t>解决方案：显式转换、使用Arrow类型</a:t>
            </a:r>
          </a:p>
          <a:p>
            <a:pPr>
              <a:defRPr sz="1800"/>
            </a:pPr>
            <a:r>
              <a:t>**性能瓶颈**：</a:t>
            </a:r>
          </a:p>
          <a:p>
            <a:pPr>
              <a:defRPr sz="1800"/>
            </a:pPr>
            <a:r>
              <a:t>解决方案：向量化操作、避免循环</a:t>
            </a:r>
          </a:p>
          <a:p>
            <a:pPr>
              <a:defRPr sz="1800"/>
            </a:pPr>
            <a:r>
              <a:t>**兼容性问题**：</a:t>
            </a:r>
          </a:p>
          <a:p>
            <a:pPr>
              <a:defRPr sz="1800"/>
            </a:pPr>
            <a:r>
              <a:t>解决方案：版本锁定、依赖管理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本章总结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✅ Pandas核心数据结构掌握</a:t>
            </a:r>
          </a:p>
          <a:p>
            <a:pPr>
              <a:defRPr sz="1800"/>
            </a:pPr>
            <a:r>
              <a:t>✅ Pandas 3.0新特性理解</a:t>
            </a:r>
          </a:p>
          <a:p>
            <a:pPr>
              <a:defRPr sz="1800"/>
            </a:pPr>
            <a:r>
              <a:t>✅ 高效数据操作技能</a:t>
            </a:r>
          </a:p>
          <a:p>
            <a:pPr>
              <a:defRPr sz="1800"/>
            </a:pPr>
            <a:r>
              <a:t>✅ Polars替代方案认知</a:t>
            </a:r>
          </a:p>
          <a:p>
            <a:pPr>
              <a:defRPr sz="1800"/>
            </a:pPr>
            <a:r>
              <a:t>✅ 实战练习完成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下章预告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**第3章：数据可视化基础**</a:t>
            </a:r>
          </a:p>
          <a:p>
            <a:pPr>
              <a:defRPr sz="1800"/>
            </a:pPr>
            <a:r>
              <a:t>Matplotlib、Seaborn、Plotly深度解析</a:t>
            </a:r>
          </a:p>
          <a:p>
            <a:pPr>
              <a:defRPr sz="1800"/>
            </a:pPr>
            <a:r>
              <a:t>2026年可视化最佳实践</a:t>
            </a:r>
          </a:p>
          <a:p>
            <a:pPr>
              <a:defRPr sz="1800"/>
            </a:pPr>
            <a:r>
              <a:t>交互式图表与AI辅助可视化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