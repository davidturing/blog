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章节标题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**第3章：数据可视化基础**</a:t>
            </a:r>
          </a:p>
          <a:p>
            <a:pPr>
              <a:defRPr sz="1800"/>
            </a:pPr>
            <a:r>
              <a:t>从数据到洞察的桥梁</a:t>
            </a:r>
          </a:p>
          <a:p>
            <a:pPr>
              <a:defRPr sz="1800"/>
            </a:pPr>
            <a:r>
              <a:t>2026年可视化技术全景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理解可视化的重要性与设计原则</a:t>
            </a:r>
          </a:p>
          <a:p>
            <a:pPr>
              <a:defRPr sz="1800"/>
            </a:pPr>
            <a:r>
              <a:t>掌握Matplotlib核心概念与最新特性</a:t>
            </a:r>
          </a:p>
          <a:p>
            <a:pPr>
              <a:defRPr sz="1800"/>
            </a:pPr>
            <a:r>
              <a:t>熟练使用Seaborn进行统计可视化</a:t>
            </a:r>
          </a:p>
          <a:p>
            <a:pPr>
              <a:defRPr sz="1800"/>
            </a:pPr>
            <a:r>
              <a:t>创建交互式Plotly图表</a:t>
            </a:r>
          </a:p>
          <a:p>
            <a:pPr>
              <a:defRPr sz="1800"/>
            </a:pPr>
            <a:r>
              <a:t>避免常见可视化陷阱，遵循最佳实践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为什么需要数据可视化？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**人类认知优势**：</a:t>
            </a:r>
          </a:p>
          <a:p>
            <a:pPr>
              <a:defRPr sz="1800"/>
            </a:pPr>
            <a:r>
              <a:t>图像处理速度比文字快60,000倍</a:t>
            </a:r>
          </a:p>
          <a:p>
            <a:pPr>
              <a:defRPr sz="1800"/>
            </a:pPr>
            <a:r>
              <a:t>模式识别能力远超表格分析</a:t>
            </a:r>
          </a:p>
          <a:p>
            <a:pPr>
              <a:defRPr sz="1800"/>
            </a:pPr>
            <a:r>
              <a:t>**沟通效率**：</a:t>
            </a:r>
          </a:p>
          <a:p>
            <a:pPr>
              <a:defRPr sz="1800"/>
            </a:pPr>
            <a:r>
              <a:t>图表比数字更容易理解和记忆</a:t>
            </a:r>
          </a:p>
          <a:p>
            <a:pPr>
              <a:defRPr sz="1800"/>
            </a:pPr>
            <a:r>
              <a:t>跨专业团队协作的通用语言</a:t>
            </a:r>
          </a:p>
          <a:p>
            <a:pPr>
              <a:defRPr sz="1800"/>
            </a:pPr>
            <a:r>
              <a:t>**决策支持**：</a:t>
            </a:r>
          </a:p>
          <a:p>
            <a:pPr>
              <a:defRPr sz="1800"/>
            </a:pPr>
            <a:r>
              <a:t>直观展示复杂关系和趋势</a:t>
            </a:r>
          </a:p>
          <a:p>
            <a:pPr>
              <a:defRPr sz="1800"/>
            </a:pPr>
            <a:r>
              <a:t>快速识别异常值和机会点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可视化设计原则（2026年）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**简洁性**（Simplicity）：</a:t>
            </a:r>
          </a:p>
          <a:p>
            <a:pPr>
              <a:defRPr sz="1800"/>
            </a:pPr>
            <a:r>
              <a:t>避免Chart Junk（不必要的装饰）</a:t>
            </a:r>
          </a:p>
          <a:p>
            <a:pPr>
              <a:defRPr sz="1800"/>
            </a:pPr>
            <a:r>
              <a:t>保持视觉层次清晰</a:t>
            </a:r>
          </a:p>
          <a:p>
            <a:pPr>
              <a:defRPr sz="1800"/>
            </a:pPr>
            <a:r>
              <a:t>**准确性**（Accuracy）：</a:t>
            </a:r>
          </a:p>
          <a:p>
            <a:pPr>
              <a:defRPr sz="1800"/>
            </a:pPr>
            <a:r>
              <a:t>正确的比例和尺度</a:t>
            </a:r>
          </a:p>
          <a:p>
            <a:pPr>
              <a:defRPr sz="1800"/>
            </a:pPr>
            <a:r>
              <a:t>避免误导性表示</a:t>
            </a:r>
          </a:p>
          <a:p>
            <a:pPr>
              <a:defRPr sz="1800"/>
            </a:pPr>
            <a:r>
              <a:t>**一致性**（Consistency）：</a:t>
            </a:r>
          </a:p>
          <a:p>
            <a:pPr>
              <a:defRPr sz="1800"/>
            </a:pPr>
            <a:r>
              <a:t>统一的颜色方案和字体</a:t>
            </a:r>
          </a:p>
          <a:p>
            <a:pPr>
              <a:defRPr sz="1800"/>
            </a:pPr>
            <a:r>
              <a:t>标准化的图例和标签</a:t>
            </a:r>
          </a:p>
          <a:p>
            <a:pPr>
              <a:defRPr sz="1800"/>
            </a:pPr>
            <a:r>
              <a:t>**可访问性**（Accessibility）：</a:t>
            </a:r>
          </a:p>
          <a:p>
            <a:pPr>
              <a:defRPr sz="1800"/>
            </a:pPr>
            <a:r>
              <a:t>考虑色盲用户需求</a:t>
            </a:r>
          </a:p>
          <a:p>
            <a:pPr>
              <a:defRPr sz="1800"/>
            </a:pPr>
            <a:r>
              <a:t>提供替代文本描述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Matplotlib核心架构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**Figure vs Axes**：</a:t>
            </a:r>
          </a:p>
          <a:p>
            <a:pPr>
              <a:defRPr sz="1800"/>
            </a:pPr>
            <a:r>
              <a:t>Figure：整个图形容器</a:t>
            </a:r>
          </a:p>
          <a:p>
            <a:pPr>
              <a:defRPr sz="1800"/>
            </a:pPr>
            <a:r>
              <a:t>Axes：单个绘图区域</a:t>
            </a:r>
          </a:p>
          <a:p>
            <a:pPr>
              <a:defRPr sz="1800"/>
            </a:pPr>
            <a:r>
              <a:t>**面向对象API**：</a:t>
            </a:r>
          </a:p>
          <a:p>
            <a:pPr>
              <a:defRPr sz="1400">
                <a:latin typeface="Courier New"/>
              </a:defRPr>
            </a:pPr>
            <a:r>
              <a:t>fig, ax = plt.subplots(figsize=(10, 6))</a:t>
            </a:r>
          </a:p>
          <a:p>
            <a:pPr>
              <a:defRPr sz="1400">
                <a:latin typeface="Courier New"/>
              </a:defRPr>
            </a:pPr>
            <a:r>
              <a:t>ax.plot(x, y, label='sin(x)')</a:t>
            </a:r>
          </a:p>
          <a:p>
            <a:pPr>
              <a:defRPr sz="1400">
                <a:latin typeface="Courier New"/>
              </a:defRPr>
            </a:pPr>
            <a:r>
              <a:t>ax.set_xlabel('X轴')</a:t>
            </a:r>
          </a:p>
          <a:p>
            <a:pPr>
              <a:defRPr sz="1400">
                <a:latin typeface="Courier New"/>
              </a:defRPr>
            </a:pPr>
            <a:r>
              <a:t>ax.set_ylabel('Y轴')</a:t>
            </a:r>
          </a:p>
          <a:p>
            <a:pPr>
              <a:defRPr sz="1800"/>
            </a:pPr>
            <a:r>
              <a:t>**状态机API**（不推荐）：</a:t>
            </a:r>
          </a:p>
          <a:p>
            <a:pPr>
              <a:defRPr sz="1400">
                <a:latin typeface="Courier New"/>
              </a:defRPr>
            </a:pPr>
            <a:r>
              <a:t>plt.plot(x, y)</a:t>
            </a:r>
          </a:p>
          <a:p>
            <a:pPr>
              <a:defRPr sz="1400">
                <a:latin typeface="Courier New"/>
              </a:defRPr>
            </a:pPr>
            <a:r>
              <a:t>plt.xlabel('X轴')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Matplotlib 3.8+ 2026年新特性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**性能优化**：</a:t>
            </a:r>
          </a:p>
          <a:p>
            <a:pPr>
              <a:defRPr sz="1800"/>
            </a:pPr>
            <a:r>
              <a:t>渲染速度提升40%</a:t>
            </a:r>
          </a:p>
          <a:p>
            <a:pPr>
              <a:defRPr sz="1800"/>
            </a:pPr>
            <a:r>
              <a:t>WebGL支持大型数据集</a:t>
            </a:r>
          </a:p>
          <a:p>
            <a:pPr>
              <a:defRPr sz="1800"/>
            </a:pPr>
            <a:r>
              <a:t>**现代化主题**：</a:t>
            </a:r>
          </a:p>
          <a:p>
            <a:pPr>
              <a:defRPr sz="1800"/>
            </a:pPr>
            <a:r>
              <a:t>内置'seaborn-v0_8'、'ggplot2-style'</a:t>
            </a:r>
          </a:p>
          <a:p>
            <a:pPr>
              <a:defRPr sz="1800"/>
            </a:pPr>
            <a:r>
              <a:t>响应式设计支持</a:t>
            </a:r>
          </a:p>
          <a:p>
            <a:pPr>
              <a:defRPr sz="1800"/>
            </a:pPr>
            <a:r>
              <a:t>**动画API改进**：</a:t>
            </a:r>
          </a:p>
          <a:p>
            <a:pPr>
              <a:defRPr sz="1800"/>
            </a:pPr>
            <a:r>
              <a:t>更流畅的动态可视化</a:t>
            </a:r>
          </a:p>
          <a:p>
            <a:pPr>
              <a:defRPr sz="1800"/>
            </a:pPr>
            <a:r>
              <a:t>实时数据流支持</a:t>
            </a:r>
          </a:p>
          <a:p>
            <a:pPr>
              <a:defRPr sz="1800"/>
            </a:pPr>
            <a:r>
              <a:t>**Web集成**：</a:t>
            </a:r>
          </a:p>
          <a:p>
            <a:pPr>
              <a:defRPr sz="1800"/>
            </a:pPr>
            <a:r>
              <a:t>JupyterLab原生支持</a:t>
            </a:r>
          </a:p>
          <a:p>
            <a:pPr>
              <a:defRPr sz="1800"/>
            </a:pPr>
            <a:r>
              <a:t>Streamlit/Dash无缝集成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Matplotlib实战演示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**基础图表类型**：</a:t>
            </a:r>
          </a:p>
          <a:p>
            <a:pPr>
              <a:defRPr sz="1800"/>
            </a:pPr>
            <a:r>
              <a:t>折线图、散点图、柱状图、直方图</a:t>
            </a:r>
          </a:p>
          <a:p>
            <a:pPr>
              <a:defRPr sz="1800"/>
            </a:pPr>
            <a:r>
              <a:t>**多子图布局**：</a:t>
            </a:r>
          </a:p>
          <a:p>
            <a:pPr>
              <a:defRPr sz="1400">
                <a:latin typeface="Courier New"/>
              </a:defRPr>
            </a:pPr>
            <a:r>
              <a:t>fig, axes = plt.subplots(2, 2, figsize=(12, 10))</a:t>
            </a:r>
          </a:p>
          <a:p>
            <a:pPr>
              <a:defRPr sz="1400">
                <a:latin typeface="Courier New"/>
              </a:defRPr>
            </a:pPr>
            <a:r>
              <a:t>axes[0,0].plot(x, y)</a:t>
            </a:r>
          </a:p>
          <a:p>
            <a:pPr>
              <a:defRPr sz="1400">
                <a:latin typeface="Courier New"/>
              </a:defRPr>
            </a:pPr>
            <a:r>
              <a:t>axes[0,1].scatter(x, y)</a:t>
            </a:r>
          </a:p>
          <a:p>
            <a:pPr>
              <a:defRPr sz="1800"/>
            </a:pPr>
            <a:r>
              <a:t>**样式定制**：</a:t>
            </a:r>
          </a:p>
          <a:p>
            <a:pPr>
              <a:defRPr sz="1800"/>
            </a:pPr>
            <a:r>
              <a:t>颜色、线型、标记、透明度</a:t>
            </a:r>
          </a:p>
          <a:p>
            <a:pPr>
              <a:defRPr sz="1800"/>
            </a:pPr>
            <a:r>
              <a:t>字体、标签、图例、网格</a:t>
            </a:r>
          </a:p>
          <a:p>
            <a:pPr>
              <a:defRPr sz="1800"/>
            </a:pPr>
            <a:r>
              <a:t>**保存高质量图像**：</a:t>
            </a:r>
          </a:p>
          <a:p>
            <a:pPr>
              <a:defRPr sz="1800"/>
            </a:pPr>
            <a:r>
              <a:t>`plt.savefig('plot.png', dpi=300, bbox_inches='tight')`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Seaborn统计可视化优势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**高层抽象**：</a:t>
            </a:r>
          </a:p>
          <a:p>
            <a:pPr>
              <a:defRPr sz="1800"/>
            </a:pPr>
            <a:r>
              <a:t>自动处理数据分组和聚合</a:t>
            </a:r>
          </a:p>
          <a:p>
            <a:pPr>
              <a:defRPr sz="1800"/>
            </a:pPr>
            <a:r>
              <a:t>内置统计计算功能</a:t>
            </a:r>
          </a:p>
          <a:p>
            <a:pPr>
              <a:defRPr sz="1800"/>
            </a:pPr>
            <a:r>
              <a:t>**美观默认样式**：</a:t>
            </a:r>
          </a:p>
          <a:p>
            <a:pPr>
              <a:defRPr sz="1800"/>
            </a:pPr>
            <a:r>
              <a:t>现代化配色方案</a:t>
            </a:r>
          </a:p>
          <a:p>
            <a:pPr>
              <a:defRPr sz="1800"/>
            </a:pPr>
            <a:r>
              <a:t>专业的字体和布局</a:t>
            </a:r>
          </a:p>
          <a:p>
            <a:pPr>
              <a:defRPr sz="1800"/>
            </a:pPr>
            <a:r>
              <a:t>**统计图表专用**：</a:t>
            </a:r>
          </a:p>
          <a:p>
            <a:pPr>
              <a:defRPr sz="1800"/>
            </a:pPr>
            <a:r>
              <a:t>分布图、关系图、分类图、回归图</a:t>
            </a:r>
          </a:p>
          <a:p>
            <a:pPr>
              <a:defRPr sz="1800"/>
            </a:pPr>
            <a:r>
              <a:t>**数据结构友好**：</a:t>
            </a:r>
          </a:p>
          <a:p>
            <a:pPr>
              <a:defRPr sz="1800"/>
            </a:pPr>
            <a:r>
              <a:t>直接支持DataFrame</a:t>
            </a:r>
          </a:p>
          <a:p>
            <a:pPr>
              <a:defRPr sz="1800"/>
            </a:pPr>
            <a:r>
              <a:t>长格式数据处理优化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Seaborn 0.13+ 2026年特性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**AI辅助配色**：</a:t>
            </a:r>
          </a:p>
          <a:p>
            <a:pPr>
              <a:defRPr sz="1800"/>
            </a:pPr>
            <a:r>
              <a:t>自动选择最佳颜色方案</a:t>
            </a:r>
          </a:p>
          <a:p>
            <a:pPr>
              <a:defRPr sz="1800"/>
            </a:pPr>
            <a:r>
              <a:t>基于数据特征的智能配色</a:t>
            </a:r>
          </a:p>
          <a:p>
            <a:pPr>
              <a:defRPr sz="1800"/>
            </a:pPr>
            <a:r>
              <a:t>**交互式集成**：</a:t>
            </a:r>
          </a:p>
          <a:p>
            <a:pPr>
              <a:defRPr sz="1800"/>
            </a:pPr>
            <a:r>
              <a:t>内置Plotly后端支持</a:t>
            </a:r>
          </a:p>
          <a:p>
            <a:pPr>
              <a:defRPr sz="1800"/>
            </a:pPr>
            <a:r>
              <a:t>Hover信息自动添加</a:t>
            </a:r>
          </a:p>
          <a:p>
            <a:pPr>
              <a:defRPr sz="1800"/>
            </a:pPr>
            <a:r>
              <a:t>**大数据优化**：</a:t>
            </a:r>
          </a:p>
          <a:p>
            <a:pPr>
              <a:defRPr sz="1800"/>
            </a:pPr>
            <a:r>
              <a:t>支持千万级数据点渲染</a:t>
            </a:r>
          </a:p>
          <a:p>
            <a:pPr>
              <a:defRPr sz="1800"/>
            </a:pPr>
            <a:r>
              <a:t>智能采样和LOD技术</a:t>
            </a:r>
          </a:p>
          <a:p>
            <a:pPr>
              <a:defRPr sz="1800"/>
            </a:pPr>
            <a:r>
              <a:t>**模板系统**：</a:t>
            </a:r>
          </a:p>
          <a:p>
            <a:pPr>
              <a:defRPr sz="1800"/>
            </a:pPr>
            <a:r>
              <a:t>学术、商业、报告预设模板</a:t>
            </a:r>
          </a:p>
          <a:p>
            <a:pPr>
              <a:defRPr sz="1800"/>
            </a:pPr>
            <a:r>
              <a:t>一键应用专业样式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Seaborn实战演示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**分布可视化**：</a:t>
            </a:r>
          </a:p>
          <a:p>
            <a:pPr>
              <a:defRPr sz="1400">
                <a:latin typeface="Courier New"/>
              </a:defRPr>
            </a:pPr>
            <a:r>
              <a:t>sns.histplot(data=tips, x="total_bill", kde=True)</a:t>
            </a:r>
          </a:p>
          <a:p>
            <a:pPr>
              <a:defRPr sz="1400">
                <a:latin typeface="Courier New"/>
              </a:defRPr>
            </a:pPr>
            <a:r>
              <a:t>sns.boxplot(data=tips, x="day", y="total_bill")</a:t>
            </a:r>
          </a:p>
          <a:p>
            <a:pPr>
              <a:defRPr sz="1800"/>
            </a:pPr>
            <a:r>
              <a:t>**关系可视化**：</a:t>
            </a:r>
          </a:p>
          <a:p>
            <a:pPr>
              <a:defRPr sz="1400">
                <a:latin typeface="Courier New"/>
              </a:defRPr>
            </a:pPr>
            <a:r>
              <a:t>sns.scatterplot(data=tips, x="total_bill", y="tip",</a:t>
            </a:r>
          </a:p>
          <a:p>
            <a:pPr>
              <a:defRPr sz="1400">
                <a:latin typeface="Courier New"/>
              </a:defRPr>
            </a:pPr>
            <a:r>
              <a:t>hue="time", size="size")</a:t>
            </a:r>
          </a:p>
          <a:p>
            <a:pPr>
              <a:defRPr sz="1800"/>
            </a:pPr>
            <a:r>
              <a:t>**相关性分析**：</a:t>
            </a:r>
          </a:p>
          <a:p>
            <a:pPr>
              <a:defRPr sz="1400">
                <a:latin typeface="Courier New"/>
              </a:defRPr>
            </a:pPr>
            <a:r>
              <a:t>correlation_matrix = tips.corr()</a:t>
            </a:r>
          </a:p>
          <a:p>
            <a:pPr>
              <a:defRPr sz="1400">
                <a:latin typeface="Courier New"/>
              </a:defRPr>
            </a:pPr>
            <a:r>
              <a:t>sns.heatmap(correlation_matrix, annot=True, cmap="coolwarm")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Plotly交互式可视化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**核心优势**：</a:t>
            </a:r>
          </a:p>
          <a:p>
            <a:pPr>
              <a:defRPr sz="1800"/>
            </a:pPr>
            <a:r>
              <a:t>真正的交互式体验</a:t>
            </a:r>
          </a:p>
          <a:p>
            <a:pPr>
              <a:defRPr sz="1800"/>
            </a:pPr>
            <a:r>
              <a:t>Web原生支持</a:t>
            </a:r>
          </a:p>
          <a:p>
            <a:pPr>
              <a:defRPr sz="1800"/>
            </a:pPr>
            <a:r>
              <a:t>丰富的图表类型</a:t>
            </a:r>
          </a:p>
          <a:p>
            <a:pPr>
              <a:defRPr sz="1800"/>
            </a:pPr>
            <a:r>
              <a:t>**Express API**：</a:t>
            </a:r>
          </a:p>
          <a:p>
            <a:pPr>
              <a:defRPr sz="1400">
                <a:latin typeface="Courier New"/>
              </a:defRPr>
            </a:pPr>
            <a:r>
              <a:t>fig = px.scatter(df, x="sepal_width", y="sepal_length",</a:t>
            </a:r>
          </a:p>
          <a:p>
            <a:pPr>
              <a:defRPr sz="1400">
                <a:latin typeface="Courier New"/>
              </a:defRPr>
            </a:pPr>
            <a:r>
              <a:t>color="species", size="petal_length")</a:t>
            </a:r>
          </a:p>
          <a:p>
            <a:pPr>
              <a:defRPr sz="1800"/>
            </a:pPr>
            <a:r>
              <a:t>**Graph Objects**：</a:t>
            </a:r>
          </a:p>
          <a:p>
            <a:pPr>
              <a:defRPr sz="1800"/>
            </a:pPr>
            <a:r>
              <a:t>更精细的控制</a:t>
            </a:r>
          </a:p>
          <a:p>
            <a:pPr>
              <a:defRPr sz="1800"/>
            </a:pPr>
            <a:r>
              <a:t>复杂图表构建</a:t>
            </a:r>
          </a:p>
          <a:p>
            <a:pPr>
              <a:defRPr sz="1800"/>
            </a:pPr>
            <a:r>
              <a:t>自定义交互行为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5.20+ 2026年特性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**实时数据流**：</a:t>
            </a:r>
          </a:p>
          <a:p>
            <a:pPr>
              <a:defRPr sz="1800"/>
            </a:pPr>
            <a:r>
              <a:t>WebSocket和Server-Sent Events支持</a:t>
            </a:r>
          </a:p>
          <a:p>
            <a:pPr>
              <a:defRPr sz="1800"/>
            </a:pPr>
            <a:r>
              <a:t>动态更新图表内容</a:t>
            </a:r>
          </a:p>
          <a:p>
            <a:pPr>
              <a:defRPr sz="1800"/>
            </a:pPr>
            <a:r>
              <a:t>**WebAssembly加速**：</a:t>
            </a:r>
          </a:p>
          <a:p>
            <a:pPr>
              <a:defRPr sz="1800"/>
            </a:pPr>
            <a:r>
              <a:t>JavaScript性能提升300%</a:t>
            </a:r>
          </a:p>
          <a:p>
            <a:pPr>
              <a:defRPr sz="1800"/>
            </a:pPr>
            <a:r>
              <a:t>大数据集流畅交互</a:t>
            </a:r>
          </a:p>
          <a:p>
            <a:pPr>
              <a:defRPr sz="1800"/>
            </a:pPr>
            <a:r>
              <a:t>**AR/VR支持**：</a:t>
            </a:r>
          </a:p>
          <a:p>
            <a:pPr>
              <a:defRPr sz="1800"/>
            </a:pPr>
            <a:r>
              <a:t>3D可视化在虚拟现实中的应用</a:t>
            </a:r>
          </a:p>
          <a:p>
            <a:pPr>
              <a:defRPr sz="1800"/>
            </a:pPr>
            <a:r>
              <a:t>沉浸式数据探索体验</a:t>
            </a:r>
          </a:p>
          <a:p>
            <a:pPr>
              <a:defRPr sz="1800"/>
            </a:pPr>
            <a:r>
              <a:t>**AI生成图表**：</a:t>
            </a:r>
          </a:p>
          <a:p>
            <a:pPr>
              <a:defRPr sz="1800"/>
            </a:pPr>
            <a:r>
              <a:t>自然语言描述自动生成可视化</a:t>
            </a:r>
          </a:p>
          <a:p>
            <a:pPr>
              <a:defRPr sz="1800"/>
            </a:pPr>
            <a:r>
              <a:t>智能图表类型推荐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Plotly实战演示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**交互式散点图**：</a:t>
            </a:r>
          </a:p>
          <a:p>
            <a:pPr>
              <a:defRPr sz="1400">
                <a:latin typeface="Courier New"/>
              </a:defRPr>
            </a:pPr>
            <a:r>
              <a:t>fig = px.scatter(gapminder, x="gdpPercap", y="lifeExp",</a:t>
            </a:r>
          </a:p>
          <a:p>
            <a:pPr>
              <a:defRPr sz="1400">
                <a:latin typeface="Courier New"/>
              </a:defRPr>
            </a:pPr>
            <a:r>
              <a:t>size="pop", color="continent",</a:t>
            </a:r>
          </a:p>
          <a:p>
            <a:pPr>
              <a:defRPr sz="1400">
                <a:latin typeface="Courier New"/>
              </a:defRPr>
            </a:pPr>
            <a:r>
              <a:t>hover_name="country", log_x=True,</a:t>
            </a:r>
          </a:p>
          <a:p>
            <a:pPr>
              <a:defRPr sz="1400">
                <a:latin typeface="Courier New"/>
              </a:defRPr>
            </a:pPr>
            <a:r>
              <a:t>animation_frame="year")</a:t>
            </a:r>
          </a:p>
          <a:p>
            <a:pPr>
              <a:defRPr sz="1800"/>
            </a:pPr>
            <a:r>
              <a:t>**3D可视化**：</a:t>
            </a:r>
          </a:p>
          <a:p>
            <a:pPr>
              <a:defRPr sz="1400">
                <a:latin typeface="Courier New"/>
              </a:defRPr>
            </a:pPr>
            <a:r>
              <a:t>fig_3d = px.scatter_3d(df, x='x', y='y', z='z',</a:t>
            </a:r>
          </a:p>
          <a:p>
            <a:pPr>
              <a:defRPr sz="1400">
                <a:latin typeface="Courier New"/>
              </a:defRPr>
            </a:pPr>
            <a:r>
              <a:t>color='category', size='value')</a:t>
            </a:r>
          </a:p>
          <a:p>
            <a:pPr>
              <a:defRPr sz="1800"/>
            </a:pPr>
            <a:r>
              <a:t>**仪表板构建**：</a:t>
            </a:r>
          </a:p>
          <a:p>
            <a:pPr>
              <a:defRPr sz="1800"/>
            </a:pPr>
            <a:r>
              <a:t>多图表组合</a:t>
            </a:r>
          </a:p>
          <a:p>
            <a:pPr>
              <a:defRPr sz="1800"/>
            </a:pPr>
            <a:r>
              <a:t>交互式控件</a:t>
            </a:r>
          </a:p>
          <a:p>
            <a:pPr>
              <a:defRPr sz="1800"/>
            </a:pPr>
            <a:r>
              <a:t>响应式布局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可视化陷阱与解决方案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**常见陷阱**：</a:t>
            </a:r>
          </a:p>
          <a:p>
            <a:pPr>
              <a:defRPr sz="1800"/>
            </a:pPr>
            <a:r>
              <a:t>Y轴不从0开始的误导性比例</a:t>
            </a:r>
          </a:p>
          <a:p>
            <a:pPr>
              <a:defRPr sz="1800"/>
            </a:pPr>
            <a:r>
              <a:t>3D图表滥用增加认知负担</a:t>
            </a:r>
          </a:p>
          <a:p>
            <a:pPr>
              <a:defRPr sz="1800"/>
            </a:pPr>
            <a:r>
              <a:t>颜色过度使用降低可读性</a:t>
            </a:r>
          </a:p>
          <a:p>
            <a:pPr>
              <a:defRPr sz="1800"/>
            </a:pPr>
            <a:r>
              <a:t>缺少必要的标签和单位</a:t>
            </a:r>
          </a:p>
          <a:p>
            <a:pPr>
              <a:defRPr sz="1800"/>
            </a:pPr>
            <a:r>
              <a:t>**解决方案**：</a:t>
            </a:r>
          </a:p>
          <a:p>
            <a:pPr>
              <a:defRPr sz="1800"/>
            </a:pPr>
            <a:r>
              <a:t>使用`visualintegrity`库验证准确性</a:t>
            </a:r>
          </a:p>
          <a:p>
            <a:pPr>
              <a:defRPr sz="1800"/>
            </a:pPr>
            <a:r>
              <a:t>A/B测试不同可视化方案</a:t>
            </a:r>
          </a:p>
          <a:p>
            <a:pPr>
              <a:defRPr sz="1800"/>
            </a:pPr>
            <a:r>
              <a:t>集成用户反馈优化设计</a:t>
            </a:r>
          </a:p>
          <a:p>
            <a:pPr>
              <a:defRPr sz="1800"/>
            </a:pPr>
            <a:r>
              <a:t>提供统计显著性信息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性能优化策略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**大数据可视化挑战**：</a:t>
            </a:r>
          </a:p>
          <a:p>
            <a:pPr>
              <a:defRPr sz="1800"/>
            </a:pPr>
            <a:r>
              <a:t>100万+数据点的渲染性能</a:t>
            </a:r>
          </a:p>
          <a:p>
            <a:pPr>
              <a:defRPr sz="1800"/>
            </a:pPr>
            <a:r>
              <a:t>内存使用优化</a:t>
            </a:r>
          </a:p>
          <a:p>
            <a:pPr>
              <a:defRPr sz="1800"/>
            </a:pPr>
            <a:r>
              <a:t>交互响应速度</a:t>
            </a:r>
          </a:p>
          <a:p>
            <a:pPr>
              <a:defRPr sz="1800"/>
            </a:pPr>
            <a:r>
              <a:t>**优化技术**：</a:t>
            </a:r>
          </a:p>
          <a:p>
            <a:pPr>
              <a:defRPr sz="1800"/>
            </a:pPr>
            <a:r>
              <a:t>数据采样（Sampling）</a:t>
            </a:r>
          </a:p>
          <a:p>
            <a:pPr>
              <a:defRPr sz="1800"/>
            </a:pPr>
            <a:r>
              <a:t>Level of Detail（LOD）</a:t>
            </a:r>
          </a:p>
          <a:p>
            <a:pPr>
              <a:defRPr sz="1800"/>
            </a:pPr>
            <a:r>
              <a:t>WebGL硬件加速</a:t>
            </a:r>
          </a:p>
          <a:p>
            <a:pPr>
              <a:defRPr sz="1800"/>
            </a:pPr>
            <a:r>
              <a:t>懒加载（Lazy Loading）</a:t>
            </a:r>
          </a:p>
          <a:p>
            <a:pPr>
              <a:defRPr sz="1800"/>
            </a:pPr>
            <a:r>
              <a:t>**工具选择指南**：</a:t>
            </a:r>
          </a:p>
          <a:p>
            <a:pPr>
              <a:defRPr sz="1800"/>
            </a:pPr>
            <a:r>
              <a:t>&lt;10K点：Matplotlib/Seaborn</a:t>
            </a:r>
          </a:p>
          <a:p>
            <a:pPr>
              <a:defRPr sz="1800"/>
            </a:pPr>
            <a:r>
              <a:t>10K-1M点：Plotly</a:t>
            </a:r>
          </a:p>
          <a:p>
            <a:pPr>
              <a:defRPr sz="1800"/>
            </a:pPr>
            <a:r>
              <a:t>&gt;1M点：专用大数据可视化工具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实践练习指导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**练习1**：多维度数据可视化</a:t>
            </a:r>
          </a:p>
          <a:p>
            <a:pPr>
              <a:defRPr sz="1800"/>
            </a:pPr>
            <a:r>
              <a:t>使用Gapminder数据集创建动态气泡图</a:t>
            </a:r>
          </a:p>
          <a:p>
            <a:pPr>
              <a:defRPr sz="1800"/>
            </a:pPr>
            <a:r>
              <a:t>实现时间轴动画效果</a:t>
            </a:r>
          </a:p>
          <a:p>
            <a:pPr>
              <a:defRPr sz="1800"/>
            </a:pPr>
            <a:r>
              <a:t>**练习2**：自定义可视化主题</a:t>
            </a:r>
          </a:p>
          <a:p>
            <a:pPr>
              <a:defRPr sz="1800"/>
            </a:pPr>
            <a:r>
              <a:t>创建学术期刊要求的主题</a:t>
            </a:r>
          </a:p>
          <a:p>
            <a:pPr>
              <a:defRPr sz="1800"/>
            </a:pPr>
            <a:r>
              <a:t>应用到实际项目中</a:t>
            </a:r>
          </a:p>
          <a:p>
            <a:pPr>
              <a:defRPr sz="1800"/>
            </a:pPr>
            <a:r>
              <a:t>**练习3**：性能优化挑战</a:t>
            </a:r>
          </a:p>
          <a:p>
            <a:pPr>
              <a:defRPr sz="1800"/>
            </a:pPr>
            <a:r>
              <a:t>百万级数据点交互式散点图</a:t>
            </a:r>
          </a:p>
          <a:p>
            <a:pPr>
              <a:defRPr sz="1800"/>
            </a:pPr>
            <a:r>
              <a:t>比较不同工具性能差异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本章总结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✅ 可视化设计原则掌握</a:t>
            </a:r>
          </a:p>
          <a:p>
            <a:pPr>
              <a:defRPr sz="1800"/>
            </a:pPr>
            <a:r>
              <a:t>✅ Matplotlib核心技能</a:t>
            </a:r>
          </a:p>
          <a:p>
            <a:pPr>
              <a:defRPr sz="1800"/>
            </a:pPr>
            <a:r>
              <a:t>✅ Seaborn统计可视化</a:t>
            </a:r>
          </a:p>
          <a:p>
            <a:pPr>
              <a:defRPr sz="1800"/>
            </a:pPr>
            <a:r>
              <a:t>✅ Plotly交互式图表</a:t>
            </a:r>
          </a:p>
          <a:p>
            <a:pPr>
              <a:defRPr sz="1800"/>
            </a:pPr>
            <a:r>
              <a:t>✅ 性能优化与最佳实践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下章预告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**第4章：数据清洗与预处理**</a:t>
            </a:r>
          </a:p>
          <a:p>
            <a:pPr>
              <a:defRPr sz="1800"/>
            </a:pPr>
            <a:r>
              <a:t>Pandas 3.0数据清洗管道</a:t>
            </a:r>
          </a:p>
          <a:p>
            <a:pPr>
              <a:defRPr sz="1800"/>
            </a:pPr>
            <a:r>
              <a:t>AI辅助数据质量评估</a:t>
            </a:r>
          </a:p>
          <a:p>
            <a:pPr>
              <a:defRPr sz="1800"/>
            </a:pPr>
            <a:r>
              <a:t>自动化数据验证技术</a:t>
            </a:r>
          </a:p>
          <a:p>
            <a:pPr>
              <a:defRPr sz="1800"/>
            </a:pPr>
            <a:r>
              <a:t>真实世界脏数据处理案例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