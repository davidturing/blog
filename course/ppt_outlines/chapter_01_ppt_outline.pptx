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**标题**：Python数据分析导论</a:t>
            </a:r>
          </a:p>
          <a:p>
            <a:pPr>
              <a:defRPr sz="1800"/>
            </a:pPr>
            <a:r>
              <a:t>**副标题**：第1章 - 课程基础与工具链</a:t>
            </a:r>
          </a:p>
          <a:p>
            <a:pPr>
              <a:defRPr sz="1800"/>
            </a:pPr>
            <a:r>
              <a:t>**课程信息**：Python数据分析（2026年版）</a:t>
            </a:r>
          </a:p>
          <a:p>
            <a:pPr>
              <a:defRPr sz="1800"/>
            </a:pPr>
            <a:r>
              <a:t>**讲师**：David Huang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理解数据分析的基本概念和流程</a:t>
            </a:r>
          </a:p>
          <a:p>
            <a:pPr>
              <a:defRPr sz="1800"/>
            </a:pPr>
            <a:r>
              <a:t>掌握Python数据分析生态系统</a:t>
            </a:r>
          </a:p>
          <a:p>
            <a:pPr>
              <a:defRPr sz="1800"/>
            </a:pPr>
            <a:r>
              <a:t>了解现代数据分析工具链（2026年）</a:t>
            </a:r>
          </a:p>
          <a:p>
            <a:pPr>
              <a:defRPr sz="1800"/>
            </a:pPr>
            <a:r>
              <a:t>建立数据分析思维框架</a:t>
            </a:r>
          </a:p>
          <a:p>
            <a:pPr>
              <a:defRPr sz="1800"/>
            </a:pPr>
            <a:r>
              <a:t>**重点**：理论与实践结合，AI工具集成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什么是数据分析？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**定义**：从原始数据中提取有用信息、得出结论并支持决策的过程</a:t>
            </a:r>
          </a:p>
          <a:p>
            <a:pPr>
              <a:defRPr sz="1800"/>
            </a:pPr>
            <a:r>
              <a:t>**四个层次**：</a:t>
            </a:r>
          </a:p>
          <a:p>
            <a:pPr>
              <a:defRPr sz="1800"/>
            </a:pPr>
            <a:r>
              <a:t>描述性分析（发生了什么？）</a:t>
            </a:r>
          </a:p>
          <a:p>
            <a:pPr>
              <a:defRPr sz="1800"/>
            </a:pPr>
            <a:r>
              <a:t>诊断性分析（为什么会发生？）</a:t>
            </a:r>
          </a:p>
          <a:p>
            <a:pPr>
              <a:defRPr sz="1800"/>
            </a:pPr>
            <a:r>
              <a:t>预测性分析（可能会发生什么？）</a:t>
            </a:r>
          </a:p>
          <a:p>
            <a:pPr>
              <a:defRPr sz="1800"/>
            </a:pPr>
            <a:r>
              <a:t>规范性分析（应该怎么做？）</a:t>
            </a:r>
          </a:p>
          <a:p>
            <a:pPr>
              <a:defRPr sz="1800"/>
            </a:pPr>
            <a:r>
              <a:t>**现实应用**：商业智能、科学研究、工程优化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Python数据分析生态系统（2026年）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>
                <a:latin typeface="Courier New"/>
              </a:defRPr>
            </a:pPr>
            <a:r>
              <a:t>┌─────────────────┐</a:t>
            </a:r>
          </a:p>
          <a:p>
            <a:pPr>
              <a:defRPr sz="1400">
                <a:latin typeface="Courier New"/>
              </a:defRPr>
            </a:pPr>
            <a:r>
              <a:t>│   可视化层      │  Matplotlib, Seaborn, Plotly, Altair</a:t>
            </a:r>
          </a:p>
          <a:p>
            <a:pPr>
              <a:defRPr sz="1400">
                <a:latin typeface="Courier New"/>
              </a:defRPr>
            </a:pPr>
            <a:r>
              <a:t>├─────────────────┤</a:t>
            </a:r>
          </a:p>
          <a:p>
            <a:pPr>
              <a:defRPr sz="1400">
                <a:latin typeface="Courier New"/>
              </a:defRPr>
            </a:pPr>
            <a:r>
              <a:t>│   分析处理层    │  Pandas 3.0, Polars, Dask, Vaex</a:t>
            </a:r>
          </a:p>
          <a:p>
            <a:pPr>
              <a:defRPr sz="1400">
                <a:latin typeface="Courier New"/>
              </a:defRPr>
            </a:pPr>
            <a:r>
              <a:t>├─────────────────┤</a:t>
            </a:r>
          </a:p>
          <a:p>
            <a:pPr>
              <a:defRPr sz="1400">
                <a:latin typeface="Courier New"/>
              </a:defRPr>
            </a:pPr>
            <a:r>
              <a:t>│   数值计算层    │  NumPy 2.0, SciPy, CuPy</a:t>
            </a:r>
          </a:p>
          <a:p>
            <a:pPr>
              <a:defRPr sz="1400">
                <a:latin typeface="Courier New"/>
              </a:defRPr>
            </a:pPr>
            <a:r>
              <a:t>├─────────────────┤</a:t>
            </a:r>
          </a:p>
          <a:p>
            <a:pPr>
              <a:defRPr sz="1400">
                <a:latin typeface="Courier New"/>
              </a:defRPr>
            </a:pPr>
            <a:r>
              <a:t>│   基础语言层    │  Python 3.12+</a:t>
            </a:r>
          </a:p>
          <a:p>
            <a:pPr>
              <a:defRPr sz="1400">
                <a:latin typeface="Courier New"/>
              </a:defRPr>
            </a:pPr>
            <a:r>
              <a:t>└─────────────────┘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2026年关键技术亮点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**Pandas 3.0**：原生Arrow支持，性能提升300%</a:t>
            </a:r>
          </a:p>
          <a:p>
            <a:pPr>
              <a:defRPr sz="1800"/>
            </a:pPr>
            <a:r>
              <a:t>**Polars**：Rust引擎，内存效率优化</a:t>
            </a:r>
          </a:p>
          <a:p>
            <a:pPr>
              <a:defRPr sz="1800"/>
            </a:pPr>
            <a:r>
              <a:t>**Dask**：分布式计算，无缝扩展</a:t>
            </a:r>
          </a:p>
          <a:p>
            <a:pPr>
              <a:defRPr sz="1800"/>
            </a:pPr>
            <a:r>
              <a:t>**AI集成**：内置ML模型推理接口</a:t>
            </a:r>
          </a:p>
          <a:p>
            <a:pPr>
              <a:defRPr sz="1800"/>
            </a:pPr>
            <a:r>
              <a:t>**开发环境**：VS Code + Jupyter + GitHub Copilot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数据分析工作流程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**典型工作流程**：</a:t>
            </a:r>
          </a:p>
          <a:p>
            <a:pPr>
              <a:defRPr sz="1800"/>
            </a:pPr>
            <a:r>
              <a:t>1. 问题定义 → 2. 数据收集 → 3. 数据清洗 → 4. 探索性分析 → 5. 建模 → 6. 可视化 → 7. 部署</a:t>
            </a:r>
          </a:p>
          <a:p>
            <a:pPr>
              <a:defRPr sz="1800"/>
            </a:pPr>
            <a:r>
              <a:t>**现代工具链示例**：</a:t>
            </a:r>
          </a:p>
          <a:p>
            <a:pPr>
              <a:defRPr sz="1400">
                <a:latin typeface="Courier New"/>
              </a:defRPr>
            </a:pPr>
            <a:r>
              <a:t>import polars as pl  # 高性能数据处理</a:t>
            </a:r>
          </a:p>
          <a:p>
            <a:pPr>
              <a:defRPr sz="1400">
                <a:latin typeface="Courier New"/>
              </a:defRPr>
            </a:pPr>
            <a:r>
              <a:t>from pandasai import SmartDataframe  # AI辅助</a:t>
            </a:r>
          </a:p>
          <a:p>
            <a:pPr>
              <a:defRPr sz="1400">
                <a:latin typeface="Courier New"/>
              </a:defRPr>
            </a:pPr>
            <a:r>
              <a:t>df = pl.read_parquet("data.parquet")</a:t>
            </a:r>
          </a:p>
          <a:p>
            <a:pPr>
              <a:defRPr sz="1400">
                <a:latin typeface="Courier New"/>
              </a:defRPr>
            </a:pPr>
            <a:r>
              <a:t>insights = smart_df.chat("关键模式是什么？")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实践演示 - 环境搭建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**虚拟环境配置**：</a:t>
            </a:r>
          </a:p>
          <a:p>
            <a:pPr>
              <a:defRPr sz="1400">
                <a:latin typeface="Courier New"/>
              </a:defRPr>
            </a:pPr>
            <a:r>
              <a:t>python -m venv data_analysis_env</a:t>
            </a:r>
          </a:p>
          <a:p>
            <a:pPr>
              <a:defRPr sz="1400">
                <a:latin typeface="Courier New"/>
              </a:defRPr>
            </a:pPr>
            <a:r>
              <a:t>source data_analysis_env/bin/activate</a:t>
            </a:r>
          </a:p>
          <a:p>
            <a:pPr>
              <a:defRPr sz="1400">
                <a:latin typeface="Courier New"/>
              </a:defRPr>
            </a:pPr>
            <a:r>
              <a:t>pip install pandas==3.0.0 polars dask plotly jupyter</a:t>
            </a:r>
          </a:p>
          <a:p>
            <a:pPr>
              <a:defRPr sz="1800"/>
            </a:pPr>
            <a:r>
              <a:t>**验证安装**：</a:t>
            </a:r>
          </a:p>
          <a:p>
            <a:pPr>
              <a:defRPr sz="1400">
                <a:latin typeface="Courier New"/>
              </a:defRPr>
            </a:pPr>
            <a:r>
              <a:t>import pandas as pd</a:t>
            </a:r>
          </a:p>
          <a:p>
            <a:pPr>
              <a:defRPr sz="1400">
                <a:latin typeface="Courier New"/>
              </a:defRPr>
            </a:pPr>
            <a:r>
              <a:t>print(f"Pandas版本: {pd.__version__}")</a:t>
            </a:r>
          </a:p>
          <a:p>
            <a:pPr>
              <a:defRPr sz="1400">
                <a:latin typeface="Courier New"/>
              </a:defRPr>
            </a:pPr>
            <a:r>
              <a:t>print(f"支持Arrow: {pd.ArrowDtype is not None}")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第一个数据分析脚本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>
                <a:latin typeface="Courier New"/>
              </a:defRPr>
            </a:pPr>
            <a:r>
              <a:t># 创建示例数据</a:t>
            </a:r>
          </a:p>
          <a:p>
            <a:pPr>
              <a:defRPr sz="1400">
                <a:latin typeface="Courier New"/>
              </a:defRPr>
            </a:pPr>
            <a:r>
              <a:t>data = {</a:t>
            </a:r>
          </a:p>
          <a:p>
            <a:pPr>
              <a:defRPr sz="1400">
                <a:latin typeface="Courier New"/>
              </a:defRPr>
            </a:pPr>
            <a:r>
              <a:t>'student_id': range(1, 101),</a:t>
            </a:r>
          </a:p>
          <a:p>
            <a:pPr>
              <a:defRPr sz="1400">
                <a:latin typeface="Courier New"/>
              </a:defRPr>
            </a:pPr>
            <a:r>
              <a:t>'score': np.random.normal(75, 15, 100),</a:t>
            </a:r>
          </a:p>
          <a:p>
            <a:pPr>
              <a:defRPr sz="1400">
                <a:latin typeface="Courier New"/>
              </a:defRPr>
            </a:pPr>
            <a:r>
              <a:t>'department': np.random.choice(['CS', 'EE', 'ME', 'CE'], 100)</a:t>
            </a:r>
          </a:p>
          <a:p>
            <a:pPr>
              <a:defRPr sz="1400">
                <a:latin typeface="Courier New"/>
              </a:defRPr>
            </a:pPr>
            <a:r>
              <a:t>}</a:t>
            </a:r>
          </a:p>
          <a:p>
            <a:pPr>
              <a:defRPr sz="1400">
                <a:latin typeface="Courier New"/>
              </a:defRPr>
            </a:pPr>
            <a:r>
              <a:t>df = pd.DataFrame(data)</a:t>
            </a:r>
          </a:p>
          <a:p>
            <a:pPr>
              <a:defRPr sz="1400">
                <a:latin typeface="Courier New"/>
              </a:defRPr>
            </a:pPr>
            <a:r>
              <a:t># 基本统计分析</a:t>
            </a:r>
          </a:p>
          <a:p>
            <a:pPr>
              <a:defRPr sz="1400">
                <a:latin typeface="Courier New"/>
              </a:defRPr>
            </a:pPr>
            <a:r>
              <a:t>print(f"平均分: {df['score'].mean():.2f}")</a:t>
            </a:r>
          </a:p>
          <a:p>
            <a:pPr>
              <a:defRPr sz="1400">
                <a:latin typeface="Courier New"/>
              </a:defRPr>
            </a:pPr>
            <a:r>
              <a:t>print("各专业人数:")</a:t>
            </a:r>
          </a:p>
          <a:p>
            <a:pPr>
              <a:defRPr sz="1400">
                <a:latin typeface="Courier New"/>
              </a:defRPr>
            </a:pPr>
            <a:r>
              <a:t>print(df['department'].value_counts())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课程项目预览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**最终项目：智能数据分析平台**</a:t>
            </a:r>
          </a:p>
          <a:p>
            <a:pPr>
              <a:defRPr sz="1800"/>
            </a:pPr>
            <a:r>
              <a:t>**数据源**：多源异构数据（CSV, JSON, API, 数据库）</a:t>
            </a:r>
          </a:p>
          <a:p>
            <a:pPr>
              <a:defRPr sz="1800"/>
            </a:pPr>
            <a:r>
              <a:t>**技术栈**：Pandas 3.0 + Polars + Dask + AI集成</a:t>
            </a:r>
          </a:p>
          <a:p>
            <a:pPr>
              <a:defRPr sz="1800"/>
            </a:pPr>
            <a:r>
              <a:t>**核心功能**：</a:t>
            </a:r>
          </a:p>
          <a:p>
            <a:pPr>
              <a:defRPr sz="1800"/>
            </a:pPr>
            <a:r>
              <a:t>自动化数据清洗</a:t>
            </a:r>
          </a:p>
          <a:p>
            <a:pPr>
              <a:defRPr sz="1800"/>
            </a:pPr>
            <a:r>
              <a:t>智能EDA报告生成</a:t>
            </a:r>
          </a:p>
          <a:p>
            <a:pPr>
              <a:defRPr sz="1800"/>
            </a:pPr>
            <a:r>
              <a:t>交互式可视化仪表板</a:t>
            </a:r>
          </a:p>
          <a:p>
            <a:pPr>
              <a:defRPr sz="1800"/>
            </a:pPr>
            <a:r>
              <a:t>AI辅助洞察发现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关键概念回顾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✅ 数据分析的四个层次</a:t>
            </a:r>
          </a:p>
          <a:p>
            <a:pPr>
              <a:defRPr sz="1800"/>
            </a:pPr>
            <a:r>
              <a:t>✅ Python数据分析生态系统架构</a:t>
            </a:r>
          </a:p>
          <a:p>
            <a:pPr>
              <a:defRPr sz="1800"/>
            </a:pPr>
            <a:r>
              <a:t>✅ 现代数据分析工作流程</a:t>
            </a:r>
          </a:p>
          <a:p>
            <a:pPr>
              <a:defRPr sz="1800"/>
            </a:pPr>
            <a:r>
              <a:t>✅ 2026年关键技术趋势</a:t>
            </a:r>
          </a:p>
          <a:p>
            <a:pPr>
              <a:defRPr sz="1800"/>
            </a:pPr>
            <a:r>
              <a:t>✅ 开发环境配置要点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预习任务与思考题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**预习任务**：</a:t>
            </a:r>
          </a:p>
          <a:p>
            <a:pPr>
              <a:defRPr sz="1800"/>
            </a:pPr>
            <a:r>
              <a:t>1. 安装Python 3.12+ 和 Jupyter Notebook</a:t>
            </a:r>
          </a:p>
          <a:p>
            <a:pPr>
              <a:defRPr sz="1800"/>
            </a:pPr>
            <a:r>
              <a:t>2. 阅读Pandas 3.0官方文档的新特性介绍</a:t>
            </a:r>
          </a:p>
          <a:p>
            <a:pPr>
              <a:defRPr sz="1800"/>
            </a:pPr>
            <a:r>
              <a:t>3. 思考：在你的专业领域中，数据分析可以解决哪些问题？</a:t>
            </a:r>
          </a:p>
          <a:p>
            <a:pPr>
              <a:defRPr sz="1800"/>
            </a:pPr>
            <a:r>
              <a:t>**下章预告**：Pandas基础与数据结构 - 深入掌握核心数据处理工具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